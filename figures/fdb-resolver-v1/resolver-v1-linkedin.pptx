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720263" cy="12150725"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icardojimenezperis.com/systems/fdb-resolver-v1/" TargetMode="External"/><Relationship Id="rId3" Type="http://schemas.openxmlformats.org/officeDocument/2006/relationships/hyperlink" Target="https://github.com/ricardojimenezperis/fdb-beyond-5s/tree/main/resolver/v1" TargetMode="External"/><Relationship Id="rId4" Type="http://schemas.openxmlformats.org/officeDocument/2006/relationships/hyperlink" Target="https://github.com/ricardojimenezperis/foundationdb/tree/resolver-v1" TargetMode="External"/><Relationship Id="rId5" Type="http://schemas.openxmlformats.org/officeDocument/2006/relationships/hyperlink" Target="https://ricardojimenezperis.com/"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8714423" cy="1463040"/>
          </a:xfrm>
          <a:prstGeom prst="rect">
            <a:avLst/>
          </a:prstGeom>
          <a:noFill/>
        </p:spPr>
        <p:txBody>
          <a:bodyPr wrap="square" lIns="0" rIns="0" tIns="0" bIns="0" anchor="t">
            <a:spAutoFit/>
          </a:bodyPr>
          <a:lstStyle/>
          <a:p>
            <a:r>
              <a:rPr sz="4000" b="1" i="0">
                <a:solidFill>
                  <a:srgbClr val="3C4450"/>
                </a:solidFill>
                <a:latin typeface="Calibri"/>
              </a:rPr>
              <a:t>Resolver v1: 2.2× longer conflict history</a:t>
            </a:r>
          </a:p>
          <a:p>
            <a:r>
              <a:rPr sz="4000" b="1" i="0">
                <a:solidFill>
                  <a:srgbClr val="3C4450"/>
                </a:solidFill>
                <a:latin typeface="Calibri"/>
              </a:rPr>
              <a:t>under the same memory</a:t>
            </a:r>
          </a:p>
        </p:txBody>
      </p:sp>
      <p:sp>
        <p:nvSpPr>
          <p:cNvPr id="3" name="TextBox 2"/>
          <p:cNvSpPr txBox="1"/>
          <p:nvPr/>
        </p:nvSpPr>
        <p:spPr>
          <a:xfrm>
            <a:off x="502920" y="1783080"/>
            <a:ext cx="8714423" cy="822960"/>
          </a:xfrm>
          <a:prstGeom prst="rect">
            <a:avLst/>
          </a:prstGeom>
          <a:noFill/>
        </p:spPr>
        <p:txBody>
          <a:bodyPr wrap="square" lIns="0" rIns="0" tIns="0" bIns="0" anchor="t">
            <a:spAutoFit/>
          </a:bodyPr>
          <a:lstStyle/>
          <a:p>
            <a:r>
              <a:rPr sz="1700" b="0" i="0">
                <a:solidFill>
                  <a:srgbClr val="666E7A"/>
                </a:solidFill>
                <a:latin typeface="Calibri"/>
              </a:rPr>
              <a:t>A temporal B+ tree for FoundationDB, with identical conflict decisions and a sequential first read path that is 2.7× slower, the target of the next milestone.</a:t>
            </a:r>
          </a:p>
        </p:txBody>
      </p:sp>
      <p:sp>
        <p:nvSpPr>
          <p:cNvPr id="4" name="TextBox 3"/>
          <p:cNvSpPr txBox="1"/>
          <p:nvPr/>
        </p:nvSpPr>
        <p:spPr>
          <a:xfrm>
            <a:off x="502920" y="2514600"/>
            <a:ext cx="8714423" cy="365760"/>
          </a:xfrm>
          <a:prstGeom prst="rect">
            <a:avLst/>
          </a:prstGeom>
          <a:noFill/>
        </p:spPr>
        <p:txBody>
          <a:bodyPr wrap="square" lIns="0" rIns="0" tIns="0" bIns="0" anchor="t">
            <a:spAutoFit/>
          </a:bodyPr>
          <a:lstStyle/>
          <a:p>
            <a:r>
              <a:rPr sz="1600" b="0" i="0">
                <a:solidFill>
                  <a:srgbClr val="002060"/>
                </a:solidFill>
                <a:latin typeface="Calibri"/>
              </a:rPr>
              <a:t>Beyond 5s, milestone 1  ·  Ricardo Jimenez-Peris  ·  Inside DBs</a:t>
            </a:r>
          </a:p>
        </p:txBody>
      </p:sp>
      <p:pic>
        <p:nvPicPr>
          <p:cNvPr id="5" name="Picture 4" descr="cover.jpg"/>
          <p:cNvPicPr>
            <a:picLocks noChangeAspect="1"/>
          </p:cNvPicPr>
          <p:nvPr/>
        </p:nvPicPr>
        <p:blipFill>
          <a:blip r:embed="rId2"/>
          <a:stretch>
            <a:fillRect/>
          </a:stretch>
        </p:blipFill>
        <p:spPr>
          <a:xfrm>
            <a:off x="502920" y="3017520"/>
            <a:ext cx="8714423" cy="4899442"/>
          </a:xfrm>
          <a:prstGeom prst="rect">
            <a:avLst/>
          </a:prstGeom>
        </p:spPr>
      </p:pic>
      <p:sp>
        <p:nvSpPr>
          <p:cNvPr id="6" name="Rectangle 5"/>
          <p:cNvSpPr/>
          <p:nvPr/>
        </p:nvSpPr>
        <p:spPr>
          <a:xfrm>
            <a:off x="502920" y="8237002"/>
            <a:ext cx="8714423" cy="8686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r>
              <a:rPr sz="1500" b="0" i="0">
                <a:solidFill>
                  <a:srgbClr val="666E7A"/>
                </a:solidFill>
                <a:latin typeface="Calibri"/>
              </a:rPr>
              <a:t>6 GiB of history:  </a:t>
            </a:r>
            <a:r>
              <a:rPr sz="1700" b="1" i="0">
                <a:solidFill>
                  <a:srgbClr val="2E7D32"/>
                </a:solidFill>
                <a:latin typeface="Calibri"/>
              </a:rPr>
              <a:t>2.2× longer retention ▲</a:t>
            </a:r>
            <a:r>
              <a:rPr sz="1500" b="0" i="0">
                <a:solidFill>
                  <a:srgbClr val="666E7A"/>
                </a:solidFill>
                <a:latin typeface="Calibri"/>
              </a:rPr>
              <a:t>  ·  </a:t>
            </a:r>
            <a:r>
              <a:rPr sz="1700" b="1" i="0">
                <a:solidFill>
                  <a:srgbClr val="3C4450"/>
                </a:solidFill>
                <a:latin typeface="Calibri"/>
              </a:rPr>
              <a:t>same decisions =</a:t>
            </a:r>
            <a:r>
              <a:rPr sz="1500" b="0" i="0">
                <a:solidFill>
                  <a:srgbClr val="666E7A"/>
                </a:solidFill>
                <a:latin typeface="Calibri"/>
              </a:rPr>
              <a:t>  ·  </a:t>
            </a:r>
            <a:r>
              <a:rPr sz="1700" b="1" i="0">
                <a:solidFill>
                  <a:srgbClr val="C62828"/>
                </a:solidFill>
                <a:latin typeface="Calibri"/>
              </a:rPr>
              <a:t>2.7× resolution time ▼</a:t>
            </a:r>
          </a:p>
        </p:txBody>
      </p:sp>
      <p:sp>
        <p:nvSpPr>
          <p:cNvPr id="7" name="TextBox 6"/>
          <p:cNvSpPr txBox="1"/>
          <p:nvPr/>
        </p:nvSpPr>
        <p:spPr>
          <a:xfrm>
            <a:off x="502920" y="9425722"/>
            <a:ext cx="8714423" cy="3200400"/>
          </a:xfrm>
          <a:prstGeom prst="rect">
            <a:avLst/>
          </a:prstGeom>
          <a:noFill/>
        </p:spPr>
        <p:txBody>
          <a:bodyPr wrap="square" lIns="0" rIns="0" tIns="0" bIns="0" anchor="t">
            <a:spAutoFit/>
          </a:bodyPr>
          <a:lstStyle/>
          <a:p>
            <a:pPr>
              <a:spcAft>
                <a:spcPts val="800"/>
              </a:spcAft>
            </a:pPr>
            <a:r>
              <a:rPr sz="1500" b="0" i="0">
                <a:solidFill>
                  <a:srgbClr val="3C4450"/>
                </a:solidFill>
                <a:latin typeface="Calibri"/>
              </a:rPr>
              <a:t>By default, FoundationDB rejects a transaction when its read version has become more than five seconds old. The limit comes from how long the Resolvers retain the recent-write history used to check its conflicts: a fixed window, regardless of the memory available.</a:t>
            </a:r>
          </a:p>
          <a:p>
            <a:pPr>
              <a:spcAft>
                <a:spcPts val="800"/>
              </a:spcAft>
            </a:pPr>
            <a:r>
              <a:rPr sz="1500" b="0" i="0">
                <a:solidFill>
                  <a:srgbClr val="3C4450"/>
                </a:solidFill>
                <a:latin typeface="Calibri"/>
              </a:rPr>
              <a:t>Resolver v1 keeps that history under a memory budget instead, and discards the oldest entries only when space runs out. This carousel gives the measurement first, then the representation, the memory layout, the bounded structural work and the reclamation that produce 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7800023" cy="457200"/>
          </a:xfrm>
          <a:prstGeom prst="rect">
            <a:avLst/>
          </a:prstGeom>
          <a:noFill/>
        </p:spPr>
        <p:txBody>
          <a:bodyPr wrap="square" lIns="0" rIns="0" tIns="0" bIns="0" anchor="t">
            <a:spAutoFit/>
          </a:bodyPr>
          <a:lstStyle/>
          <a:p>
            <a:r>
              <a:rPr sz="2000" b="1" i="0">
                <a:solidFill>
                  <a:srgbClr val="3C4450"/>
                </a:solidFill>
                <a:latin typeface="Calibri"/>
              </a:rPr>
              <a:t>1 What the measurement says</a:t>
            </a:r>
          </a:p>
        </p:txBody>
      </p:sp>
      <p:sp>
        <p:nvSpPr>
          <p:cNvPr id="3" name="TextBox 2"/>
          <p:cNvSpPr txBox="1"/>
          <p:nvPr/>
        </p:nvSpPr>
        <p:spPr>
          <a:xfrm>
            <a:off x="8394383" y="429768"/>
            <a:ext cx="822960" cy="365760"/>
          </a:xfrm>
          <a:prstGeom prst="rect">
            <a:avLst/>
          </a:prstGeom>
          <a:noFill/>
        </p:spPr>
        <p:txBody>
          <a:bodyPr wrap="square" lIns="0" rIns="0" tIns="0" bIns="0" anchor="t">
            <a:spAutoFit/>
          </a:bodyPr>
          <a:lstStyle/>
          <a:p>
            <a:pPr algn="r"/>
            <a:r>
              <a:rPr sz="1200" b="0" i="0">
                <a:solidFill>
                  <a:srgbClr val="666E7A"/>
                </a:solidFill>
                <a:latin typeface="Calibri"/>
              </a:rPr>
              <a:t>2/9</a:t>
            </a:r>
          </a:p>
        </p:txBody>
      </p:sp>
      <p:sp>
        <p:nvSpPr>
          <p:cNvPr id="4" name="TextBox 3"/>
          <p:cNvSpPr txBox="1"/>
          <p:nvPr/>
        </p:nvSpPr>
        <p:spPr>
          <a:xfrm>
            <a:off x="502920" y="868680"/>
            <a:ext cx="8714423" cy="1463040"/>
          </a:xfrm>
          <a:prstGeom prst="rect">
            <a:avLst/>
          </a:prstGeom>
          <a:noFill/>
        </p:spPr>
        <p:txBody>
          <a:bodyPr wrap="square" lIns="0" rIns="0" tIns="0" bIns="0" anchor="t">
            <a:spAutoFit/>
          </a:bodyPr>
          <a:lstStyle/>
          <a:p>
            <a:pPr>
              <a:spcAft>
                <a:spcPts val="500"/>
              </a:spcAft>
            </a:pPr>
            <a:r>
              <a:rPr sz="1400" b="0" i="0">
                <a:solidFill>
                  <a:srgbClr val="3C4450"/>
                </a:solidFill>
                <a:latin typeface="Calibri"/>
              </a:rPr>
              <a:t>A 5,400-second trace of resolver work, 65,536 transactions per second with 16–64-byte keys, replayed through FoundationDB's skip list and through v1, both under 6 GiB of history. The skip list has no budget of its own, so its window was calibrated first: 265 seconds is the largest that fits; 270 exceeds the budget.</a:t>
            </a:r>
          </a:p>
        </p:txBody>
      </p:sp>
      <p:graphicFrame>
        <p:nvGraphicFramePr>
          <p:cNvPr id="5" name="Table 4"/>
          <p:cNvGraphicFramePr>
            <a:graphicFrameLocks noGrp="1"/>
          </p:cNvGraphicFramePr>
          <p:nvPr/>
        </p:nvGraphicFramePr>
        <p:xfrm>
          <a:off x="502920" y="2148840"/>
          <a:ext cx="8714423" cy="2743200"/>
        </p:xfrm>
        <a:graphic>
          <a:graphicData uri="http://schemas.openxmlformats.org/drawingml/2006/table">
            <a:tbl>
              <a:tblPr firstRow="1" bandRow="1">
                <a:tableStyleId>{5C22544A-7EE6-4342-B048-85BDC9FD1C3A}</a:tableStyleId>
              </a:tblPr>
              <a:tblGrid>
                <a:gridCol w="3017520"/>
                <a:gridCol w="2286000"/>
                <a:gridCol w="3410903"/>
              </a:tblGrid>
              <a:tr h="457200">
                <a:tc>
                  <a:txBody>
                    <a:bodyPr/>
                    <a:lstStyle/>
                    <a:p>
                      <a:r>
                        <a:rPr sz="1500" b="1" i="0">
                          <a:solidFill>
                            <a:srgbClr val="666E7A"/>
                          </a:solidFill>
                          <a:latin typeface="Calibri"/>
                        </a:rPr>
                        <a:t/>
                      </a:r>
                    </a:p>
                  </a:txBody>
                  <a:tcPr marL="109728" marR="109728" marT="73152" marB="73152">
                    <a:solidFill>
                      <a:srgbClr val="F3F5F8"/>
                    </a:solidFill>
                  </a:tcPr>
                </a:tc>
                <a:tc>
                  <a:txBody>
                    <a:bodyPr/>
                    <a:lstStyle/>
                    <a:p>
                      <a:r>
                        <a:rPr sz="1500" b="1" i="0">
                          <a:solidFill>
                            <a:srgbClr val="666E7A"/>
                          </a:solidFill>
                          <a:latin typeface="Calibri"/>
                        </a:rPr>
                        <a:t>FDB skip list</a:t>
                      </a:r>
                    </a:p>
                  </a:txBody>
                  <a:tcPr marL="109728" marR="109728" marT="73152" marB="73152">
                    <a:solidFill>
                      <a:srgbClr val="F3F5F8"/>
                    </a:solidFill>
                  </a:tcPr>
                </a:tc>
                <a:tc>
                  <a:txBody>
                    <a:bodyPr/>
                    <a:lstStyle/>
                    <a:p>
                      <a:r>
                        <a:rPr sz="1500" b="1" i="0">
                          <a:solidFill>
                            <a:srgbClr val="666E7A"/>
                          </a:solidFill>
                          <a:latin typeface="Calibri"/>
                        </a:rPr>
                        <a:t>Resolver v1</a:t>
                      </a:r>
                    </a:p>
                  </a:txBody>
                  <a:tcPr marL="109728" marR="109728" marT="73152" marB="73152">
                    <a:solidFill>
                      <a:srgbClr val="F3F5F8"/>
                    </a:solidFill>
                  </a:tcPr>
                </a:tc>
              </a:tr>
              <a:tr h="457200">
                <a:tc>
                  <a:txBody>
                    <a:bodyPr/>
                    <a:lstStyle/>
                    <a:p>
                      <a:r>
                        <a:rPr sz="1500" b="1" i="0">
                          <a:solidFill>
                            <a:srgbClr val="3C4450"/>
                          </a:solidFill>
                          <a:latin typeface="Calibri"/>
                        </a:rPr>
                        <a:t>History retained</a:t>
                      </a:r>
                    </a:p>
                  </a:txBody>
                  <a:tcPr marL="109728" marR="109728" marT="73152" marB="73152">
                    <a:solidFill>
                      <a:srgbClr val="FFFFFF"/>
                    </a:solidFill>
                  </a:tcPr>
                </a:tc>
                <a:tc>
                  <a:txBody>
                    <a:bodyPr/>
                    <a:lstStyle/>
                    <a:p>
                      <a:r>
                        <a:rPr sz="1500" b="0" i="0">
                          <a:solidFill>
                            <a:srgbClr val="3C4450"/>
                          </a:solidFill>
                          <a:latin typeface="Consolas"/>
                        </a:rPr>
                        <a:t>265 s window</a:t>
                      </a:r>
                    </a:p>
                  </a:txBody>
                  <a:tcPr marL="109728" marR="109728" marT="73152" marB="73152">
                    <a:solidFill>
                      <a:srgbClr val="FFFFFF"/>
                    </a:solidFill>
                  </a:tcPr>
                </a:tc>
                <a:tc>
                  <a:txBody>
                    <a:bodyPr/>
                    <a:lstStyle/>
                    <a:p>
                      <a:r>
                        <a:rPr sz="1500" b="0" i="0">
                          <a:solidFill>
                            <a:srgbClr val="3C4450"/>
                          </a:solidFill>
                          <a:latin typeface="Consolas"/>
                        </a:rPr>
                        <a:t>583 s minimum, 2.2×</a:t>
                      </a:r>
                      <a:r>
                        <a:rPr sz="1500" b="1" i="0">
                          <a:solidFill>
                            <a:srgbClr val="2E7D32"/>
                          </a:solidFill>
                          <a:latin typeface="Calibri"/>
                        </a:rPr>
                        <a:t>  ▲</a:t>
                      </a:r>
                    </a:p>
                  </a:txBody>
                  <a:tcPr marL="109728" marR="109728" marT="73152" marB="73152">
                    <a:solidFill>
                      <a:srgbClr val="FFFFFF"/>
                    </a:solidFill>
                  </a:tcPr>
                </a:tc>
              </a:tr>
              <a:tr h="457200">
                <a:tc>
                  <a:txBody>
                    <a:bodyPr/>
                    <a:lstStyle/>
                    <a:p>
                      <a:r>
                        <a:rPr sz="1500" b="1" i="0">
                          <a:solidFill>
                            <a:srgbClr val="3C4450"/>
                          </a:solidFill>
                          <a:latin typeface="Calibri"/>
                        </a:rPr>
                        <a:t>Resolution time, full trace</a:t>
                      </a:r>
                    </a:p>
                  </a:txBody>
                  <a:tcPr marL="109728" marR="109728" marT="73152" marB="73152">
                    <a:solidFill>
                      <a:srgbClr val="FFFFFF"/>
                    </a:solidFill>
                  </a:tcPr>
                </a:tc>
                <a:tc>
                  <a:txBody>
                    <a:bodyPr/>
                    <a:lstStyle/>
                    <a:p>
                      <a:r>
                        <a:rPr sz="1500" b="0" i="0">
                          <a:solidFill>
                            <a:srgbClr val="3C4450"/>
                          </a:solidFill>
                          <a:latin typeface="Consolas"/>
                        </a:rPr>
                        <a:t>1,241 s</a:t>
                      </a:r>
                    </a:p>
                  </a:txBody>
                  <a:tcPr marL="109728" marR="109728" marT="73152" marB="73152">
                    <a:solidFill>
                      <a:srgbClr val="FFFFFF"/>
                    </a:solidFill>
                  </a:tcPr>
                </a:tc>
                <a:tc>
                  <a:txBody>
                    <a:bodyPr/>
                    <a:lstStyle/>
                    <a:p>
                      <a:r>
                        <a:rPr sz="1500" b="0" i="0">
                          <a:solidFill>
                            <a:srgbClr val="3C4450"/>
                          </a:solidFill>
                          <a:latin typeface="Consolas"/>
                        </a:rPr>
                        <a:t>3,376 s, 2.7×</a:t>
                      </a:r>
                      <a:r>
                        <a:rPr sz="1500" b="1" i="0">
                          <a:solidFill>
                            <a:srgbClr val="C62828"/>
                          </a:solidFill>
                          <a:latin typeface="Calibri"/>
                        </a:rPr>
                        <a:t>  ▼</a:t>
                      </a:r>
                    </a:p>
                  </a:txBody>
                  <a:tcPr marL="109728" marR="109728" marT="73152" marB="73152">
                    <a:solidFill>
                      <a:srgbClr val="FFFFFF"/>
                    </a:solidFill>
                  </a:tcPr>
                </a:tc>
              </a:tr>
              <a:tr h="457200">
                <a:tc>
                  <a:txBody>
                    <a:bodyPr/>
                    <a:lstStyle/>
                    <a:p>
                      <a:r>
                        <a:rPr sz="1500" b="1" i="0">
                          <a:solidFill>
                            <a:srgbClr val="3C4450"/>
                          </a:solidFill>
                          <a:latin typeface="Calibri"/>
                        </a:rPr>
                        <a:t>Reads / writes</a:t>
                      </a:r>
                    </a:p>
                  </a:txBody>
                  <a:tcPr marL="109728" marR="109728" marT="73152" marB="73152">
                    <a:solidFill>
                      <a:srgbClr val="FFFFFF"/>
                    </a:solidFill>
                  </a:tcPr>
                </a:tc>
                <a:tc>
                  <a:txBody>
                    <a:bodyPr/>
                    <a:lstStyle/>
                    <a:p>
                      <a:r>
                        <a:rPr sz="1500" b="0" i="0">
                          <a:solidFill>
                            <a:srgbClr val="3C4450"/>
                          </a:solidFill>
                          <a:latin typeface="Consolas"/>
                        </a:rPr>
                        <a:t>1× / 1×</a:t>
                      </a:r>
                    </a:p>
                  </a:txBody>
                  <a:tcPr marL="109728" marR="109728" marT="73152" marB="73152">
                    <a:solidFill>
                      <a:srgbClr val="FFFFFF"/>
                    </a:solidFill>
                  </a:tcPr>
                </a:tc>
                <a:tc>
                  <a:txBody>
                    <a:bodyPr/>
                    <a:lstStyle/>
                    <a:p>
                      <a:r>
                        <a:rPr sz="1500" b="0" i="0">
                          <a:solidFill>
                            <a:srgbClr val="3C4450"/>
                          </a:solidFill>
                          <a:latin typeface="Consolas"/>
                        </a:rPr>
                        <a:t>5.1× / 2.7×</a:t>
                      </a:r>
                      <a:r>
                        <a:rPr sz="1500" b="1" i="0">
                          <a:solidFill>
                            <a:srgbClr val="C62828"/>
                          </a:solidFill>
                          <a:latin typeface="Calibri"/>
                        </a:rPr>
                        <a:t>  ▼</a:t>
                      </a:r>
                    </a:p>
                  </a:txBody>
                  <a:tcPr marL="109728" marR="109728" marT="73152" marB="73152">
                    <a:solidFill>
                      <a:srgbClr val="FFFFFF"/>
                    </a:solidFill>
                  </a:tcPr>
                </a:tc>
              </a:tr>
              <a:tr h="457200">
                <a:tc>
                  <a:txBody>
                    <a:bodyPr/>
                    <a:lstStyle/>
                    <a:p>
                      <a:r>
                        <a:rPr sz="1500" b="1" i="0">
                          <a:solidFill>
                            <a:srgbClr val="3C4450"/>
                          </a:solidFill>
                          <a:latin typeface="Calibri"/>
                        </a:rPr>
                        <a:t>Conflict decisions</a:t>
                      </a:r>
                    </a:p>
                  </a:txBody>
                  <a:tcPr marL="109728" marR="109728" marT="73152" marB="73152">
                    <a:solidFill>
                      <a:srgbClr val="FFFFFF"/>
                    </a:solidFill>
                  </a:tcPr>
                </a:tc>
                <a:tc>
                  <a:txBody>
                    <a:bodyPr/>
                    <a:lstStyle/>
                    <a:p>
                      <a:r>
                        <a:rPr sz="1500" b="0" i="0">
                          <a:solidFill>
                            <a:srgbClr val="3C4450"/>
                          </a:solidFill>
                          <a:latin typeface="Consolas"/>
                        </a:rPr>
                        <a:t>same hash</a:t>
                      </a:r>
                    </a:p>
                  </a:txBody>
                  <a:tcPr marL="109728" marR="109728" marT="73152" marB="73152">
                    <a:solidFill>
                      <a:srgbClr val="FFFFFF"/>
                    </a:solidFill>
                  </a:tcPr>
                </a:tc>
                <a:tc>
                  <a:txBody>
                    <a:bodyPr/>
                    <a:lstStyle/>
                    <a:p>
                      <a:r>
                        <a:rPr sz="1500" b="0" i="0">
                          <a:solidFill>
                            <a:srgbClr val="3C4450"/>
                          </a:solidFill>
                          <a:latin typeface="Consolas"/>
                        </a:rPr>
                        <a:t>same hash</a:t>
                      </a:r>
                      <a:r>
                        <a:rPr sz="1500" b="1" i="0">
                          <a:solidFill>
                            <a:srgbClr val="666E7A"/>
                          </a:solidFill>
                          <a:latin typeface="Calibri"/>
                        </a:rPr>
                        <a:t>  =</a:t>
                      </a:r>
                    </a:p>
                  </a:txBody>
                  <a:tcPr marL="109728" marR="109728" marT="73152" marB="73152">
                    <a:solidFill>
                      <a:srgbClr val="FFFFFF"/>
                    </a:solidFill>
                  </a:tcPr>
                </a:tc>
              </a:tr>
              <a:tr h="457200">
                <a:tc>
                  <a:txBody>
                    <a:bodyPr/>
                    <a:lstStyle/>
                    <a:p>
                      <a:r>
                        <a:rPr sz="1500" b="1" i="0">
                          <a:solidFill>
                            <a:srgbClr val="3C4450"/>
                          </a:solidFill>
                          <a:latin typeface="Calibri"/>
                        </a:rPr>
                        <a:t>Reads rejected</a:t>
                      </a:r>
                    </a:p>
                  </a:txBody>
                  <a:tcPr marL="109728" marR="109728" marT="73152" marB="73152">
                    <a:solidFill>
                      <a:srgbClr val="FFFFFF"/>
                    </a:solidFill>
                  </a:tcPr>
                </a:tc>
                <a:tc>
                  <a:txBody>
                    <a:bodyPr/>
                    <a:lstStyle/>
                    <a:p>
                      <a:r>
                        <a:rPr sz="1500" b="0" i="0">
                          <a:solidFill>
                            <a:srgbClr val="3C4450"/>
                          </a:solidFill>
                          <a:latin typeface="Consolas"/>
                        </a:rPr>
                        <a:t>none</a:t>
                      </a:r>
                    </a:p>
                  </a:txBody>
                  <a:tcPr marL="109728" marR="109728" marT="73152" marB="73152">
                    <a:solidFill>
                      <a:srgbClr val="FFFFFF"/>
                    </a:solidFill>
                  </a:tcPr>
                </a:tc>
                <a:tc>
                  <a:txBody>
                    <a:bodyPr/>
                    <a:lstStyle/>
                    <a:p>
                      <a:r>
                        <a:rPr sz="1500" b="0" i="0">
                          <a:solidFill>
                            <a:srgbClr val="3C4450"/>
                          </a:solidFill>
                          <a:latin typeface="Consolas"/>
                        </a:rPr>
                        <a:t>none</a:t>
                      </a:r>
                      <a:r>
                        <a:rPr sz="1500" b="1" i="0">
                          <a:solidFill>
                            <a:srgbClr val="666E7A"/>
                          </a:solidFill>
                          <a:latin typeface="Calibri"/>
                        </a:rPr>
                        <a:t>  =</a:t>
                      </a:r>
                    </a:p>
                  </a:txBody>
                  <a:tcPr marL="109728" marR="109728" marT="73152" marB="73152">
                    <a:solidFill>
                      <a:srgbClr val="FFFFFF"/>
                    </a:solidFill>
                  </a:tcPr>
                </a:tc>
              </a:tr>
            </a:tbl>
          </a:graphicData>
        </a:graphic>
      </p:graphicFrame>
      <p:sp>
        <p:nvSpPr>
          <p:cNvPr id="6" name="TextBox 5"/>
          <p:cNvSpPr txBox="1"/>
          <p:nvPr/>
        </p:nvSpPr>
        <p:spPr>
          <a:xfrm>
            <a:off x="502920" y="5257800"/>
            <a:ext cx="8714423" cy="5029200"/>
          </a:xfrm>
          <a:prstGeom prst="rect">
            <a:avLst/>
          </a:prstGeom>
          <a:noFill/>
        </p:spPr>
        <p:txBody>
          <a:bodyPr wrap="square" lIns="0" rIns="0" tIns="0" bIns="0" anchor="t">
            <a:spAutoFit/>
          </a:bodyPr>
          <a:lstStyle/>
          <a:p>
            <a:pPr>
              <a:spcAft>
                <a:spcPts val="900"/>
              </a:spcAft>
            </a:pPr>
            <a:r>
              <a:rPr sz="1450" b="0" i="0">
                <a:solidFill>
                  <a:srgbClr val="3C4450"/>
                </a:solidFill>
                <a:latin typeface="Calibri"/>
              </a:rPr>
              <a:t>Under the same memory, v1 first discards history 703 seconds into the trace and never retains less than 583 seconds afterwards: 2.2 times the calibrated window, with identical decisions.</a:t>
            </a:r>
          </a:p>
          <a:p>
            <a:pPr>
              <a:spcAft>
                <a:spcPts val="900"/>
              </a:spcAft>
            </a:pPr>
            <a:r>
              <a:rPr sz="1450" b="0" i="0">
                <a:solidFill>
                  <a:srgbClr val="3C4450"/>
                </a:solidFill>
                <a:latin typeface="Calibri"/>
              </a:rPr>
              <a:t>Resolution time goes the other way: 2.7 times the skip list's over the full trace, and 5.1 times on reads. This is a sequential first version that resolves each read and write individually, and every separator comparison reads key bytes outside the node, with nothing overlapping those accesses yet.</a:t>
            </a:r>
          </a:p>
          <a:p>
            <a:pPr>
              <a:spcAft>
                <a:spcPts val="900"/>
              </a:spcAft>
            </a:pPr>
            <a:r>
              <a:rPr sz="1450" b="0" i="0">
                <a:solidFill>
                  <a:srgbClr val="3C4450"/>
                </a:solidFill>
                <a:latin typeface="Calibri"/>
              </a:rPr>
              <a:t>The result is a trade-off stated under equal memory: substantially more history for a higher cost per batch. Retention was this version's objective; resolution speed is the next one. ▲ better than the skip list, ▼ worse, = equal.</a:t>
            </a:r>
          </a:p>
          <a:p>
            <a:pPr>
              <a:spcAft>
                <a:spcPts val="900"/>
              </a:spcAft>
            </a:pPr>
            <a:r>
              <a:rPr sz="1450" b="0" i="0">
                <a:solidFill>
                  <a:srgbClr val="3C4450"/>
                </a:solidFill>
                <a:latin typeface="Calibri"/>
              </a:rPr>
              <a:t>The next six pages show where the retention comes from and where the time goes.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7800023" cy="457200"/>
          </a:xfrm>
          <a:prstGeom prst="rect">
            <a:avLst/>
          </a:prstGeom>
          <a:noFill/>
        </p:spPr>
        <p:txBody>
          <a:bodyPr wrap="square" lIns="0" rIns="0" tIns="0" bIns="0" anchor="t">
            <a:spAutoFit/>
          </a:bodyPr>
          <a:lstStyle/>
          <a:p>
            <a:r>
              <a:rPr sz="2000" b="1" i="0">
                <a:solidFill>
                  <a:srgbClr val="3C4450"/>
                </a:solidFill>
                <a:latin typeface="Calibri"/>
              </a:rPr>
              <a:t>2 What the resolver keeps</a:t>
            </a:r>
          </a:p>
        </p:txBody>
      </p:sp>
      <p:sp>
        <p:nvSpPr>
          <p:cNvPr id="3" name="TextBox 2"/>
          <p:cNvSpPr txBox="1"/>
          <p:nvPr/>
        </p:nvSpPr>
        <p:spPr>
          <a:xfrm>
            <a:off x="8394383" y="429768"/>
            <a:ext cx="822960" cy="365760"/>
          </a:xfrm>
          <a:prstGeom prst="rect">
            <a:avLst/>
          </a:prstGeom>
          <a:noFill/>
        </p:spPr>
        <p:txBody>
          <a:bodyPr wrap="square" lIns="0" rIns="0" tIns="0" bIns="0" anchor="t">
            <a:spAutoFit/>
          </a:bodyPr>
          <a:lstStyle/>
          <a:p>
            <a:pPr algn="r"/>
            <a:r>
              <a:rPr sz="1200" b="0" i="0">
                <a:solidFill>
                  <a:srgbClr val="666E7A"/>
                </a:solidFill>
                <a:latin typeface="Calibri"/>
              </a:rPr>
              <a:t>3/9</a:t>
            </a:r>
          </a:p>
        </p:txBody>
      </p:sp>
      <p:sp>
        <p:nvSpPr>
          <p:cNvPr id="4" name="TextBox 3"/>
          <p:cNvSpPr txBox="1"/>
          <p:nvPr/>
        </p:nvSpPr>
        <p:spPr>
          <a:xfrm>
            <a:off x="502920" y="868680"/>
            <a:ext cx="8714423" cy="1463040"/>
          </a:xfrm>
          <a:prstGeom prst="rect">
            <a:avLst/>
          </a:prstGeom>
          <a:noFill/>
        </p:spPr>
        <p:txBody>
          <a:bodyPr wrap="square" lIns="0" rIns="0" tIns="0" bIns="0" anchor="t">
            <a:spAutoFit/>
          </a:bodyPr>
          <a:lstStyle/>
          <a:p>
            <a:pPr>
              <a:spcAft>
                <a:spcPts val="500"/>
              </a:spcAft>
            </a:pPr>
            <a:r>
              <a:rPr sz="1400" b="0" i="0">
                <a:solidFill>
                  <a:srgbClr val="3C4450"/>
                </a:solidFill>
                <a:latin typeface="Calibri"/>
              </a:rPr>
              <a:t>The history records which regions of the key space were written and at which commit version; it holds no values. A write at version 40 over [h, r) replaces the versions inside the range and keeps the exteriors: f's interval now ends at h, and [r, t) keeps its version 15. Intervals never overlap.</a:t>
            </a:r>
          </a:p>
          <a:p>
            <a:pPr>
              <a:spcAft>
                <a:spcPts val="500"/>
              </a:spcAft>
            </a:pPr>
            <a:r>
              <a:rPr sz="1400" b="0" i="0">
                <a:solidFill>
                  <a:srgbClr val="3C4450"/>
                </a:solidFill>
                <a:latin typeface="Calibri"/>
              </a:rPr>
              <a:t>A read-conflict check is a range query: a transaction at read version RV conflicts if any interval overlapping one of its read ranges has a version greater than RV. The semantics are FoundationDB's; what v1 changes is the representation.</a:t>
            </a:r>
          </a:p>
        </p:txBody>
      </p:sp>
      <p:pic>
        <p:nvPicPr>
          <p:cNvPr id="5" name="Picture 4" descr="c-intervals.png"/>
          <p:cNvPicPr>
            <a:picLocks noChangeAspect="1"/>
          </p:cNvPicPr>
          <p:nvPr/>
        </p:nvPicPr>
        <p:blipFill>
          <a:blip r:embed="rId2"/>
          <a:stretch>
            <a:fillRect/>
          </a:stretch>
        </p:blipFill>
        <p:spPr>
          <a:xfrm>
            <a:off x="502920" y="2514600"/>
            <a:ext cx="8714423" cy="4375992"/>
          </a:xfrm>
          <a:prstGeom prst="rect">
            <a:avLst/>
          </a:prstGeom>
        </p:spPr>
      </p:pic>
      <p:sp>
        <p:nvSpPr>
          <p:cNvPr id="6" name="TextBox 5"/>
          <p:cNvSpPr txBox="1"/>
          <p:nvPr/>
        </p:nvSpPr>
        <p:spPr>
          <a:xfrm>
            <a:off x="502920" y="7164912"/>
            <a:ext cx="8714423" cy="4620053"/>
          </a:xfrm>
          <a:prstGeom prst="rect">
            <a:avLst/>
          </a:prstGeom>
          <a:noFill/>
        </p:spPr>
        <p:txBody>
          <a:bodyPr wrap="square" lIns="0" rIns="0" tIns="0" bIns="0" anchor="t">
            <a:spAutoFit/>
          </a:bodyPr>
          <a:lstStyle/>
          <a:p>
            <a:pPr>
              <a:spcBef>
                <a:spcPts val="800"/>
              </a:spcBef>
            </a:pPr>
            <a:r>
              <a:rPr sz="1500" b="1" i="0">
                <a:solidFill>
                  <a:srgbClr val="E07A2E"/>
                </a:solidFill>
                <a:latin typeface="Consolas"/>
              </a:rPr>
              <a:t>1 </a:t>
            </a:r>
            <a:r>
              <a:rPr sz="1500" b="1" i="0">
                <a:solidFill>
                  <a:srgbClr val="3C4450"/>
                </a:solidFill>
                <a:latin typeface="Consolas"/>
              </a:rPr>
              <a:t>write [h, r) @ 40</a:t>
            </a:r>
          </a:p>
          <a:p>
            <a:r>
              <a:rPr sz="1250" b="0" i="0">
                <a:solidFill>
                  <a:srgbClr val="666E7A"/>
                </a:solidFill>
                <a:latin typeface="Calibri"/>
              </a:rPr>
              <a:t>     k and p disappear, their history is superseded; f and t survive with their versions</a:t>
            </a:r>
          </a:p>
          <a:p>
            <a:pPr>
              <a:spcBef>
                <a:spcPts val="800"/>
              </a:spcBef>
            </a:pPr>
            <a:r>
              <a:rPr sz="1500" b="1" i="0">
                <a:solidFill>
                  <a:srgbClr val="E07A2E"/>
                </a:solidFill>
                <a:latin typeface="Consolas"/>
              </a:rPr>
              <a:t>2 </a:t>
            </a:r>
            <a:r>
              <a:rPr sz="1500" b="1" i="0">
                <a:solidFill>
                  <a:srgbClr val="3C4450"/>
                </a:solidFill>
                <a:latin typeface="Consolas"/>
              </a:rPr>
              <a:t>read [e, j) @ RV 35</a:t>
            </a:r>
          </a:p>
          <a:p>
            <a:r>
              <a:rPr sz="1250" b="0" i="0">
                <a:solidFill>
                  <a:srgbClr val="666E7A"/>
                </a:solidFill>
                <a:latin typeface="Calibri"/>
              </a:rPr>
              <a:t>     overlaps [h, r) with cv 40 &gt; 35: conflict</a:t>
            </a:r>
          </a:p>
          <a:p>
            <a:pPr>
              <a:spcBef>
                <a:spcPts val="800"/>
              </a:spcBef>
            </a:pPr>
            <a:r>
              <a:rPr sz="1500" b="1" i="0">
                <a:solidFill>
                  <a:srgbClr val="E07A2E"/>
                </a:solidFill>
                <a:latin typeface="Consolas"/>
              </a:rPr>
              <a:t>3 </a:t>
            </a:r>
            <a:r>
              <a:rPr sz="1500" b="1" i="0">
                <a:solidFill>
                  <a:srgbClr val="3C4450"/>
                </a:solidFill>
                <a:latin typeface="Consolas"/>
              </a:rPr>
              <a:t>read [b, e) @ RV 12</a:t>
            </a:r>
          </a:p>
          <a:p>
            <a:r>
              <a:rPr sz="1250" b="0" i="0">
                <a:solidFill>
                  <a:srgbClr val="666E7A"/>
                </a:solidFill>
                <a:latin typeface="Calibri"/>
              </a:rPr>
              <a:t>     overlaps [a, f) only, cv 10 ≤ 12: no conflict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7800023" cy="457200"/>
          </a:xfrm>
          <a:prstGeom prst="rect">
            <a:avLst/>
          </a:prstGeom>
          <a:noFill/>
        </p:spPr>
        <p:txBody>
          <a:bodyPr wrap="square" lIns="0" rIns="0" tIns="0" bIns="0" anchor="t">
            <a:spAutoFit/>
          </a:bodyPr>
          <a:lstStyle/>
          <a:p>
            <a:r>
              <a:rPr sz="2000" b="1" i="0">
                <a:solidFill>
                  <a:srgbClr val="3C4450"/>
                </a:solidFill>
                <a:latin typeface="Calibri"/>
              </a:rPr>
              <a:t>3 Where everything lives</a:t>
            </a:r>
          </a:p>
        </p:txBody>
      </p:sp>
      <p:sp>
        <p:nvSpPr>
          <p:cNvPr id="3" name="TextBox 2"/>
          <p:cNvSpPr txBox="1"/>
          <p:nvPr/>
        </p:nvSpPr>
        <p:spPr>
          <a:xfrm>
            <a:off x="8394383" y="429768"/>
            <a:ext cx="822960" cy="365760"/>
          </a:xfrm>
          <a:prstGeom prst="rect">
            <a:avLst/>
          </a:prstGeom>
          <a:noFill/>
        </p:spPr>
        <p:txBody>
          <a:bodyPr wrap="square" lIns="0" rIns="0" tIns="0" bIns="0" anchor="t">
            <a:spAutoFit/>
          </a:bodyPr>
          <a:lstStyle/>
          <a:p>
            <a:pPr algn="r"/>
            <a:r>
              <a:rPr sz="1200" b="0" i="0">
                <a:solidFill>
                  <a:srgbClr val="666E7A"/>
                </a:solidFill>
                <a:latin typeface="Calibri"/>
              </a:rPr>
              <a:t>4/9</a:t>
            </a:r>
          </a:p>
        </p:txBody>
      </p:sp>
      <p:sp>
        <p:nvSpPr>
          <p:cNvPr id="4" name="TextBox 3"/>
          <p:cNvSpPr txBox="1"/>
          <p:nvPr/>
        </p:nvSpPr>
        <p:spPr>
          <a:xfrm>
            <a:off x="502920" y="868680"/>
            <a:ext cx="8714423" cy="1463040"/>
          </a:xfrm>
          <a:prstGeom prst="rect">
            <a:avLst/>
          </a:prstGeom>
          <a:noFill/>
        </p:spPr>
        <p:txBody>
          <a:bodyPr wrap="square" lIns="0" rIns="0" tIns="0" bIns="0" anchor="t">
            <a:spAutoFit/>
          </a:bodyPr>
          <a:lstStyle/>
          <a:p>
            <a:pPr>
              <a:spcAft>
                <a:spcPts val="500"/>
              </a:spcAft>
            </a:pPr>
            <a:r>
              <a:rPr sz="1400" b="0" i="0">
                <a:solidFill>
                  <a:srgbClr val="3C4450"/>
                </a:solidFill>
                <a:latin typeface="Calibri"/>
              </a:rPr>
              <a:t>Leaves hold intervals with their commit versions; internal nodes hold separators and child pointers. Key bytes never sit inside a node: a leaf entry references its key record, and a separator references the same record as the first entry of the child it routes to. Nodes and key blocks are blocks of the same pool.</a:t>
            </a:r>
          </a:p>
        </p:txBody>
      </p:sp>
      <p:pic>
        <p:nvPicPr>
          <p:cNvPr id="5" name="Picture 4" descr="c-storage.png"/>
          <p:cNvPicPr>
            <a:picLocks noChangeAspect="1"/>
          </p:cNvPicPr>
          <p:nvPr/>
        </p:nvPicPr>
        <p:blipFill>
          <a:blip r:embed="rId2"/>
          <a:stretch>
            <a:fillRect/>
          </a:stretch>
        </p:blipFill>
        <p:spPr>
          <a:xfrm>
            <a:off x="502920" y="2103120"/>
            <a:ext cx="8714423" cy="2711308"/>
          </a:xfrm>
          <a:prstGeom prst="rect">
            <a:avLst/>
          </a:prstGeom>
        </p:spPr>
      </p:pic>
      <p:sp>
        <p:nvSpPr>
          <p:cNvPr id="6" name="TextBox 5"/>
          <p:cNvSpPr txBox="1"/>
          <p:nvPr/>
        </p:nvSpPr>
        <p:spPr>
          <a:xfrm>
            <a:off x="502920" y="5088748"/>
            <a:ext cx="8714423" cy="6696217"/>
          </a:xfrm>
          <a:prstGeom prst="rect">
            <a:avLst/>
          </a:prstGeom>
          <a:noFill/>
        </p:spPr>
        <p:txBody>
          <a:bodyPr wrap="square" lIns="0" rIns="0" tIns="0" bIns="0" anchor="t">
            <a:spAutoFit/>
          </a:bodyPr>
          <a:lstStyle/>
          <a:p>
            <a:pPr>
              <a:spcBef>
                <a:spcPts val="800"/>
              </a:spcBef>
            </a:pPr>
            <a:r>
              <a:rPr sz="1500" b="1" i="0">
                <a:solidFill>
                  <a:srgbClr val="E07A2E"/>
                </a:solidFill>
                <a:latin typeface="Consolas"/>
              </a:rPr>
              <a:t>1 </a:t>
            </a:r>
            <a:r>
              <a:rPr sz="1500" b="1" i="0">
                <a:solidFill>
                  <a:srgbClr val="3C4450"/>
                </a:solidFill>
                <a:latin typeface="Consolas"/>
              </a:rPr>
              <a:t>2 KiB block = 40 children or 59 entries</a:t>
            </a:r>
          </a:p>
          <a:p>
            <a:r>
              <a:rPr sz="1250" b="0" i="0">
                <a:solidFill>
                  <a:srgbClr val="666E7A"/>
                </a:solidFill>
                <a:latin typeface="Calibri"/>
              </a:rPr>
              <a:t>     node capacity does not depend on key length</a:t>
            </a:r>
          </a:p>
          <a:p>
            <a:pPr>
              <a:spcBef>
                <a:spcPts val="800"/>
              </a:spcBef>
            </a:pPr>
            <a:r>
              <a:rPr sz="1500" b="1" i="0">
                <a:solidFill>
                  <a:srgbClr val="E07A2E"/>
                </a:solidFill>
                <a:latin typeface="Consolas"/>
              </a:rPr>
              <a:t>2 </a:t>
            </a:r>
            <a:r>
              <a:rPr sz="1500" b="1" i="0">
                <a:solidFill>
                  <a:srgbClr val="3C4450"/>
                </a:solidFill>
                <a:latin typeface="Consolas"/>
              </a:rPr>
              <a:t>[k, k\0) stores k\0 once</a:t>
            </a:r>
          </a:p>
          <a:p>
            <a:r>
              <a:rPr sz="1250" b="0" i="0">
                <a:solidFill>
                  <a:srgbClr val="666E7A"/>
                </a:solidFill>
                <a:latin typeface="Calibri"/>
              </a:rPr>
              <a:t>     a point write costs one record; the skip list keeps two copies of k</a:t>
            </a:r>
          </a:p>
          <a:p>
            <a:pPr>
              <a:spcBef>
                <a:spcPts val="800"/>
              </a:spcBef>
            </a:pPr>
            <a:r>
              <a:rPr sz="1500" b="1" i="0">
                <a:solidFill>
                  <a:srgbClr val="E07A2E"/>
                </a:solidFill>
                <a:latin typeface="Consolas"/>
              </a:rPr>
              <a:t>3 </a:t>
            </a:r>
            <a:r>
              <a:rPr sz="1500" b="1" i="0">
                <a:solidFill>
                  <a:srgbClr val="3C4450"/>
                </a:solidFill>
                <a:latin typeface="Consolas"/>
              </a:rPr>
              <a:t>one pool for nodes and key blocks</a:t>
            </a:r>
          </a:p>
          <a:p>
            <a:r>
              <a:rPr sz="1250" b="0" i="0">
                <a:solidFill>
                  <a:srgbClr val="666E7A"/>
                </a:solidFill>
                <a:latin typeface="Calibri"/>
              </a:rPr>
              <a:t>     a block released by a node can hold key records next, and the reverse</a:t>
            </a:r>
          </a:p>
          <a:p>
            <a:pPr>
              <a:spcBef>
                <a:spcPts val="800"/>
              </a:spcBef>
            </a:pPr>
            <a:r>
              <a:rPr sz="1500" b="1" i="0">
                <a:solidFill>
                  <a:srgbClr val="E07A2E"/>
                </a:solidFill>
                <a:latin typeface="Consolas"/>
              </a:rPr>
              <a:t>4 </a:t>
            </a:r>
            <a:r>
              <a:rPr sz="1500" b="1" i="0">
                <a:solidFill>
                  <a:srgbClr val="3C4450"/>
                </a:solidFill>
                <a:latin typeface="Consolas"/>
              </a:rPr>
              <a:t>every separator compare reads outside the node</a:t>
            </a:r>
          </a:p>
          <a:p>
            <a:r>
              <a:rPr sz="1250" b="0" i="0">
                <a:solidFill>
                  <a:srgbClr val="666E7A"/>
                </a:solidFill>
                <a:latin typeface="Calibri"/>
              </a:rPr>
              <a:t>     the price of 1–3, paid on every descent; v1 pays it sequentially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7800023" cy="457200"/>
          </a:xfrm>
          <a:prstGeom prst="rect">
            <a:avLst/>
          </a:prstGeom>
          <a:noFill/>
        </p:spPr>
        <p:txBody>
          <a:bodyPr wrap="square" lIns="0" rIns="0" tIns="0" bIns="0" anchor="t">
            <a:spAutoFit/>
          </a:bodyPr>
          <a:lstStyle/>
          <a:p>
            <a:r>
              <a:rPr sz="2000" b="1" i="0">
                <a:solidFill>
                  <a:srgbClr val="3C4450"/>
                </a:solidFill>
                <a:latin typeface="Calibri"/>
              </a:rPr>
              <a:t>4 Keeping order without moving entries</a:t>
            </a:r>
          </a:p>
        </p:txBody>
      </p:sp>
      <p:sp>
        <p:nvSpPr>
          <p:cNvPr id="3" name="TextBox 2"/>
          <p:cNvSpPr txBox="1"/>
          <p:nvPr/>
        </p:nvSpPr>
        <p:spPr>
          <a:xfrm>
            <a:off x="8394383" y="429768"/>
            <a:ext cx="822960" cy="365760"/>
          </a:xfrm>
          <a:prstGeom prst="rect">
            <a:avLst/>
          </a:prstGeom>
          <a:noFill/>
        </p:spPr>
        <p:txBody>
          <a:bodyPr wrap="square" lIns="0" rIns="0" tIns="0" bIns="0" anchor="t">
            <a:spAutoFit/>
          </a:bodyPr>
          <a:lstStyle/>
          <a:p>
            <a:pPr algn="r"/>
            <a:r>
              <a:rPr sz="1200" b="0" i="0">
                <a:solidFill>
                  <a:srgbClr val="666E7A"/>
                </a:solidFill>
                <a:latin typeface="Calibri"/>
              </a:rPr>
              <a:t>5/9</a:t>
            </a:r>
          </a:p>
        </p:txBody>
      </p:sp>
      <p:sp>
        <p:nvSpPr>
          <p:cNvPr id="4" name="TextBox 3"/>
          <p:cNvSpPr txBox="1"/>
          <p:nvPr/>
        </p:nvSpPr>
        <p:spPr>
          <a:xfrm>
            <a:off x="502920" y="868680"/>
            <a:ext cx="8714423" cy="1463040"/>
          </a:xfrm>
          <a:prstGeom prst="rect">
            <a:avLst/>
          </a:prstGeom>
          <a:noFill/>
        </p:spPr>
        <p:txBody>
          <a:bodyPr wrap="square" lIns="0" rIns="0" tIns="0" bIns="0" anchor="t">
            <a:spAutoFit/>
          </a:bodyPr>
          <a:lstStyle/>
          <a:p>
            <a:pPr>
              <a:spcAft>
                <a:spcPts val="500"/>
              </a:spcAft>
            </a:pPr>
            <a:r>
              <a:rPr sz="1400" b="0" i="0">
                <a:solidFill>
                  <a:srgbClr val="3C4450"/>
                </a:solidFill>
                <a:latin typeface="Calibri"/>
              </a:rPr>
              <a:t>Within a node, entries stay in the physical slot where they were written. A bitmap says which slots are occupied, and a one-byte permutation, order[], lists them in key order. Inserting writes the entry into a free slot and shifts one-byte indices; deleting clears a bit and shifts them back. Nothing else moves.</a:t>
            </a:r>
          </a:p>
        </p:txBody>
      </p:sp>
      <p:pic>
        <p:nvPicPr>
          <p:cNvPr id="5" name="Picture 4" descr="c-order.png"/>
          <p:cNvPicPr>
            <a:picLocks noChangeAspect="1"/>
          </p:cNvPicPr>
          <p:nvPr/>
        </p:nvPicPr>
        <p:blipFill>
          <a:blip r:embed="rId2"/>
          <a:stretch>
            <a:fillRect/>
          </a:stretch>
        </p:blipFill>
        <p:spPr>
          <a:xfrm>
            <a:off x="502920" y="2103120"/>
            <a:ext cx="8714423" cy="4582584"/>
          </a:xfrm>
          <a:prstGeom prst="rect">
            <a:avLst/>
          </a:prstGeom>
        </p:spPr>
      </p:pic>
      <p:sp>
        <p:nvSpPr>
          <p:cNvPr id="6" name="TextBox 5"/>
          <p:cNvSpPr txBox="1"/>
          <p:nvPr/>
        </p:nvSpPr>
        <p:spPr>
          <a:xfrm>
            <a:off x="502920" y="6960024"/>
            <a:ext cx="8714423" cy="4824941"/>
          </a:xfrm>
          <a:prstGeom prst="rect">
            <a:avLst/>
          </a:prstGeom>
          <a:noFill/>
        </p:spPr>
        <p:txBody>
          <a:bodyPr wrap="square" lIns="0" rIns="0" tIns="0" bIns="0" anchor="t">
            <a:spAutoFit/>
          </a:bodyPr>
          <a:lstStyle/>
          <a:p>
            <a:pPr>
              <a:spcBef>
                <a:spcPts val="800"/>
              </a:spcBef>
            </a:pPr>
            <a:r>
              <a:rPr sz="1500" b="1" i="0">
                <a:solidFill>
                  <a:srgbClr val="E07A2E"/>
                </a:solidFill>
                <a:latin typeface="Consolas"/>
              </a:rPr>
              <a:t>1 </a:t>
            </a:r>
            <a:r>
              <a:rPr sz="1500" b="1" i="0">
                <a:solidFill>
                  <a:srgbClr val="3C4450"/>
                </a:solidFill>
                <a:latin typeface="Consolas"/>
              </a:rPr>
              <a:t>sorted array: move 3 descriptors, 96 B</a:t>
            </a:r>
          </a:p>
          <a:p>
            <a:r>
              <a:rPr sz="1250" b="0" i="0">
                <a:solidFill>
                  <a:srgbClr val="666E7A"/>
                </a:solidFill>
                <a:latin typeface="Calibri"/>
              </a:rPr>
              <a:t>     then write the new one</a:t>
            </a:r>
          </a:p>
          <a:p>
            <a:pPr>
              <a:spcBef>
                <a:spcPts val="800"/>
              </a:spcBef>
            </a:pPr>
            <a:r>
              <a:rPr sz="1500" b="1" i="0">
                <a:solidFill>
                  <a:srgbClr val="E07A2E"/>
                </a:solidFill>
                <a:latin typeface="Consolas"/>
              </a:rPr>
              <a:t>2 </a:t>
            </a:r>
            <a:r>
              <a:rPr sz="1500" b="1" i="0">
                <a:solidFill>
                  <a:srgbClr val="3C4450"/>
                </a:solidFill>
                <a:latin typeface="Consolas"/>
              </a:rPr>
              <a:t>v1: write into a free slot, shift 3 bytes</a:t>
            </a:r>
          </a:p>
          <a:p>
            <a:r>
              <a:rPr sz="1250" b="0" i="0">
                <a:solidFill>
                  <a:srgbClr val="666E7A"/>
                </a:solidFill>
                <a:latin typeface="Calibri"/>
              </a:rPr>
              <a:t>     in a leaf of 59 entries, about 29 bytes instead of about 930</a:t>
            </a:r>
          </a:p>
          <a:p>
            <a:pPr>
              <a:spcBef>
                <a:spcPts val="800"/>
              </a:spcBef>
            </a:pPr>
            <a:r>
              <a:rPr sz="1500" b="1" i="0">
                <a:solidFill>
                  <a:srgbClr val="E07A2E"/>
                </a:solidFill>
                <a:latin typeface="Consolas"/>
              </a:rPr>
              <a:t>3 </a:t>
            </a:r>
            <a:r>
              <a:rPr sz="1500" b="1" i="0">
                <a:solidFill>
                  <a:srgbClr val="3C4450"/>
                </a:solidFill>
                <a:latin typeface="Consolas"/>
              </a:rPr>
              <a:t>parentSlot is physical</a:t>
            </a:r>
          </a:p>
          <a:p>
            <a:r>
              <a:rPr sz="1250" b="0" i="0">
                <a:solidFill>
                  <a:srgbClr val="666E7A"/>
                </a:solidFill>
                <a:latin typeface="Calibri"/>
              </a:rPr>
              <a:t>     a child's slot in its parent does not change when siblings come and go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7800023" cy="457200"/>
          </a:xfrm>
          <a:prstGeom prst="rect">
            <a:avLst/>
          </a:prstGeom>
          <a:noFill/>
        </p:spPr>
        <p:txBody>
          <a:bodyPr wrap="square" lIns="0" rIns="0" tIns="0" bIns="0" anchor="t">
            <a:spAutoFit/>
          </a:bodyPr>
          <a:lstStyle/>
          <a:p>
            <a:r>
              <a:rPr sz="2000" b="1" i="0">
                <a:solidFill>
                  <a:srgbClr val="3C4450"/>
                </a:solidFill>
                <a:latin typeface="Calibri"/>
              </a:rPr>
              <a:t>5 Conventional splits cascade</a:t>
            </a:r>
          </a:p>
        </p:txBody>
      </p:sp>
      <p:sp>
        <p:nvSpPr>
          <p:cNvPr id="3" name="TextBox 2"/>
          <p:cNvSpPr txBox="1"/>
          <p:nvPr/>
        </p:nvSpPr>
        <p:spPr>
          <a:xfrm>
            <a:off x="8394383" y="429768"/>
            <a:ext cx="822960" cy="365760"/>
          </a:xfrm>
          <a:prstGeom prst="rect">
            <a:avLst/>
          </a:prstGeom>
          <a:noFill/>
        </p:spPr>
        <p:txBody>
          <a:bodyPr wrap="square" lIns="0" rIns="0" tIns="0" bIns="0" anchor="t">
            <a:spAutoFit/>
          </a:bodyPr>
          <a:lstStyle/>
          <a:p>
            <a:pPr algn="r"/>
            <a:r>
              <a:rPr sz="1200" b="0" i="0">
                <a:solidFill>
                  <a:srgbClr val="666E7A"/>
                </a:solidFill>
                <a:latin typeface="Calibri"/>
              </a:rPr>
              <a:t>6/9</a:t>
            </a:r>
          </a:p>
        </p:txBody>
      </p:sp>
      <p:sp>
        <p:nvSpPr>
          <p:cNvPr id="4" name="TextBox 3"/>
          <p:cNvSpPr txBox="1"/>
          <p:nvPr/>
        </p:nvSpPr>
        <p:spPr>
          <a:xfrm>
            <a:off x="502920" y="868680"/>
            <a:ext cx="8714423" cy="1463040"/>
          </a:xfrm>
          <a:prstGeom prst="rect">
            <a:avLst/>
          </a:prstGeom>
          <a:noFill/>
        </p:spPr>
        <p:txBody>
          <a:bodyPr wrap="square" lIns="0" rIns="0" tIns="0" bIns="0" anchor="t">
            <a:spAutoFit/>
          </a:bodyPr>
          <a:lstStyle/>
          <a:p>
            <a:pPr>
              <a:spcAft>
                <a:spcPts val="500"/>
              </a:spcAft>
            </a:pPr>
            <a:r>
              <a:rPr sz="1400" b="0" i="0">
                <a:solidFill>
                  <a:srgbClr val="3C4450"/>
                </a:solidFill>
                <a:latin typeface="Calibri"/>
              </a:rPr>
              <a:t>A conventional B+ tree splits a node when it overflows. The new sibling needs a slot in the parent; if the parent is full it splits too, and the chain can run up to the root. The work of one insertion depends on how many of its ancestors happen to be full.</a:t>
            </a:r>
          </a:p>
        </p:txBody>
      </p:sp>
      <p:pic>
        <p:nvPicPr>
          <p:cNvPr id="5" name="Picture 4" descr="c-split-conventional.png"/>
          <p:cNvPicPr>
            <a:picLocks noChangeAspect="1"/>
          </p:cNvPicPr>
          <p:nvPr/>
        </p:nvPicPr>
        <p:blipFill>
          <a:blip r:embed="rId2"/>
          <a:stretch>
            <a:fillRect/>
          </a:stretch>
        </p:blipFill>
        <p:spPr>
          <a:xfrm>
            <a:off x="502920" y="2103120"/>
            <a:ext cx="8714423" cy="3840254"/>
          </a:xfrm>
          <a:prstGeom prst="rect">
            <a:avLst/>
          </a:prstGeom>
        </p:spPr>
      </p:pic>
      <p:sp>
        <p:nvSpPr>
          <p:cNvPr id="6" name="TextBox 5"/>
          <p:cNvSpPr txBox="1"/>
          <p:nvPr/>
        </p:nvSpPr>
        <p:spPr>
          <a:xfrm>
            <a:off x="502920" y="6217694"/>
            <a:ext cx="8714423" cy="5567271"/>
          </a:xfrm>
          <a:prstGeom prst="rect">
            <a:avLst/>
          </a:prstGeom>
          <a:noFill/>
        </p:spPr>
        <p:txBody>
          <a:bodyPr wrap="square" lIns="0" rIns="0" tIns="0" bIns="0" anchor="t">
            <a:spAutoFit/>
          </a:bodyPr>
          <a:lstStyle/>
          <a:p>
            <a:pPr>
              <a:spcBef>
                <a:spcPts val="800"/>
              </a:spcBef>
            </a:pPr>
            <a:r>
              <a:rPr sz="1500" b="1" i="0">
                <a:solidFill>
                  <a:srgbClr val="E07A2E"/>
                </a:solidFill>
                <a:latin typeface="Consolas"/>
              </a:rPr>
              <a:t>1 </a:t>
            </a:r>
            <a:r>
              <a:rPr sz="1500" b="1" i="0">
                <a:solidFill>
                  <a:srgbClr val="3C4450"/>
                </a:solidFill>
                <a:latin typeface="Consolas"/>
              </a:rPr>
              <a:t>insert j into a full leaf</a:t>
            </a:r>
          </a:p>
          <a:p>
            <a:r>
              <a:rPr sz="1250" b="0" i="0">
                <a:solidFill>
                  <a:srgbClr val="666E7A"/>
                </a:solidFill>
                <a:latin typeface="Calibri"/>
              </a:rPr>
              <a:t>     the leaf splits</a:t>
            </a:r>
          </a:p>
          <a:p>
            <a:pPr>
              <a:spcBef>
                <a:spcPts val="800"/>
              </a:spcBef>
            </a:pPr>
            <a:r>
              <a:rPr sz="1500" b="1" i="0">
                <a:solidFill>
                  <a:srgbClr val="E07A2E"/>
                </a:solidFill>
                <a:latin typeface="Consolas"/>
              </a:rPr>
              <a:t>2 </a:t>
            </a:r>
            <a:r>
              <a:rPr sz="1500" b="1" i="0">
                <a:solidFill>
                  <a:srgbClr val="3C4450"/>
                </a:solidFill>
                <a:latin typeface="Consolas"/>
              </a:rPr>
              <a:t>the parent is full too</a:t>
            </a:r>
          </a:p>
          <a:p>
            <a:r>
              <a:rPr sz="1250" b="0" i="0">
                <a:solidFill>
                  <a:srgbClr val="666E7A"/>
                </a:solidFill>
                <a:latin typeface="Calibri"/>
              </a:rPr>
              <a:t>     the root splits and a new root is created: two existing nodes split for one insertion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7800023" cy="457200"/>
          </a:xfrm>
          <a:prstGeom prst="rect">
            <a:avLst/>
          </a:prstGeom>
          <a:noFill/>
        </p:spPr>
        <p:txBody>
          <a:bodyPr wrap="square" lIns="0" rIns="0" tIns="0" bIns="0" anchor="t">
            <a:spAutoFit/>
          </a:bodyPr>
          <a:lstStyle/>
          <a:p>
            <a:r>
              <a:rPr sz="2000" b="1" i="0">
                <a:solidFill>
                  <a:srgbClr val="3C4450"/>
                </a:solidFill>
                <a:latin typeface="Calibri"/>
              </a:rPr>
              <a:t>6 Splits that never cascade</a:t>
            </a:r>
          </a:p>
        </p:txBody>
      </p:sp>
      <p:sp>
        <p:nvSpPr>
          <p:cNvPr id="3" name="TextBox 2"/>
          <p:cNvSpPr txBox="1"/>
          <p:nvPr/>
        </p:nvSpPr>
        <p:spPr>
          <a:xfrm>
            <a:off x="8394383" y="429768"/>
            <a:ext cx="822960" cy="365760"/>
          </a:xfrm>
          <a:prstGeom prst="rect">
            <a:avLst/>
          </a:prstGeom>
          <a:noFill/>
        </p:spPr>
        <p:txBody>
          <a:bodyPr wrap="square" lIns="0" rIns="0" tIns="0" bIns="0" anchor="t">
            <a:spAutoFit/>
          </a:bodyPr>
          <a:lstStyle/>
          <a:p>
            <a:pPr algn="r"/>
            <a:r>
              <a:rPr sz="1200" b="0" i="0">
                <a:solidFill>
                  <a:srgbClr val="666E7A"/>
                </a:solidFill>
                <a:latin typeface="Calibri"/>
              </a:rPr>
              <a:t>7/9</a:t>
            </a:r>
          </a:p>
        </p:txBody>
      </p:sp>
      <p:sp>
        <p:nvSpPr>
          <p:cNvPr id="4" name="TextBox 3"/>
          <p:cNvSpPr txBox="1"/>
          <p:nvPr/>
        </p:nvSpPr>
        <p:spPr>
          <a:xfrm>
            <a:off x="502920" y="868680"/>
            <a:ext cx="8714423" cy="1463040"/>
          </a:xfrm>
          <a:prstGeom prst="rect">
            <a:avLst/>
          </a:prstGeom>
          <a:noFill/>
        </p:spPr>
        <p:txBody>
          <a:bodyPr wrap="square" lIns="0" rIns="0" tIns="0" bIns="0" anchor="t">
            <a:spAutoFit/>
          </a:bodyPr>
          <a:lstStyle/>
          <a:p>
            <a:pPr>
              <a:spcAft>
                <a:spcPts val="500"/>
              </a:spcAft>
            </a:pPr>
            <a:r>
              <a:rPr sz="1400" b="0" i="0">
                <a:solidFill>
                  <a:srgbClr val="3C4450"/>
                </a:solidFill>
                <a:latin typeface="Calibri"/>
              </a:rPr>
              <a:t>V1 reserves capacity before it is needed. A leaf needs a split when it has at most one free slot, since a write can add two entries. Each internal node counts its children that need a split, P, and keeps one free slot for each; it needs a split itself when P equals its free slots F. A write splits the deepest node on its path that needs one, before inserting.</a:t>
            </a:r>
          </a:p>
        </p:txBody>
      </p:sp>
      <p:pic>
        <p:nvPicPr>
          <p:cNvPr id="5" name="Picture 4" descr="c-split-proactive.png"/>
          <p:cNvPicPr>
            <a:picLocks noChangeAspect="1"/>
          </p:cNvPicPr>
          <p:nvPr/>
        </p:nvPicPr>
        <p:blipFill>
          <a:blip r:embed="rId2"/>
          <a:stretch>
            <a:fillRect/>
          </a:stretch>
        </p:blipFill>
        <p:spPr>
          <a:xfrm>
            <a:off x="502920" y="2286000"/>
            <a:ext cx="8714423" cy="2898653"/>
          </a:xfrm>
          <a:prstGeom prst="rect">
            <a:avLst/>
          </a:prstGeom>
        </p:spPr>
      </p:pic>
      <p:sp>
        <p:nvSpPr>
          <p:cNvPr id="6" name="TextBox 5"/>
          <p:cNvSpPr txBox="1"/>
          <p:nvPr/>
        </p:nvSpPr>
        <p:spPr>
          <a:xfrm>
            <a:off x="502920" y="5458973"/>
            <a:ext cx="8714423" cy="6325992"/>
          </a:xfrm>
          <a:prstGeom prst="rect">
            <a:avLst/>
          </a:prstGeom>
          <a:noFill/>
        </p:spPr>
        <p:txBody>
          <a:bodyPr wrap="square" lIns="0" rIns="0" tIns="0" bIns="0" anchor="t">
            <a:spAutoFit/>
          </a:bodyPr>
          <a:lstStyle/>
          <a:p>
            <a:pPr>
              <a:spcBef>
                <a:spcPts val="800"/>
              </a:spcBef>
            </a:pPr>
            <a:r>
              <a:rPr sz="1500" b="1" i="0">
                <a:solidFill>
                  <a:srgbClr val="E07A2E"/>
                </a:solidFill>
                <a:latin typeface="Consolas"/>
              </a:rPr>
              <a:t>1 </a:t>
            </a:r>
            <a:r>
              <a:rPr sz="1500" b="1" i="0">
                <a:solidFill>
                  <a:srgbClr val="3C4450"/>
                </a:solidFill>
                <a:latin typeface="Consolas"/>
              </a:rPr>
              <a:t>L2 has one free slot: it needs a split</a:t>
            </a:r>
          </a:p>
          <a:p>
            <a:r>
              <a:rPr sz="1250" b="0" i="0">
                <a:solidFill>
                  <a:srgbClr val="666E7A"/>
                </a:solidFill>
                <a:latin typeface="Calibri"/>
              </a:rPr>
              <a:t>     R keeps a slot reserved for the sibling: N=3 F=1 P=1</a:t>
            </a:r>
          </a:p>
          <a:p>
            <a:pPr>
              <a:spcBef>
                <a:spcPts val="800"/>
              </a:spcBef>
            </a:pPr>
            <a:r>
              <a:rPr sz="1500" b="1" i="0">
                <a:solidFill>
                  <a:srgbClr val="E07A2E"/>
                </a:solidFill>
                <a:latin typeface="Consolas"/>
              </a:rPr>
              <a:t>2 </a:t>
            </a:r>
            <a:r>
              <a:rPr sz="1500" b="1" i="0">
                <a:solidFill>
                  <a:srgbClr val="3C4450"/>
                </a:solidFill>
                <a:latin typeface="Consolas"/>
              </a:rPr>
              <a:t>insert h: split L2 first, then insert</a:t>
            </a:r>
          </a:p>
          <a:p>
            <a:r>
              <a:rPr sz="1250" b="0" i="0">
                <a:solidFill>
                  <a:srgbClr val="666E7A"/>
                </a:solidFill>
                <a:latin typeface="Calibri"/>
              </a:rPr>
              <a:t>     R absorbs L2' in the reserved slot: F − 1, P − 1, F − P unchanged, no cascade</a:t>
            </a:r>
          </a:p>
          <a:p>
            <a:pPr>
              <a:spcBef>
                <a:spcPts val="800"/>
              </a:spcBef>
            </a:pPr>
            <a:r>
              <a:rPr sz="1500" b="1" i="0">
                <a:solidFill>
                  <a:srgbClr val="E07A2E"/>
                </a:solidFill>
                <a:latin typeface="Consolas"/>
              </a:rPr>
              <a:t>3 </a:t>
            </a:r>
            <a:r>
              <a:rPr sz="1500" b="1" i="0">
                <a:solidFill>
                  <a:srgbClr val="3C4450"/>
                </a:solidFill>
                <a:latin typeface="Consolas"/>
              </a:rPr>
              <a:t>at most one existing node splits per write</a:t>
            </a:r>
          </a:p>
          <a:p>
            <a:r>
              <a:rPr sz="1250" b="0" i="0">
                <a:solidFill>
                  <a:srgbClr val="666E7A"/>
                </a:solidFill>
                <a:latin typeface="Calibri"/>
              </a:rPr>
              <a:t>     a bound on structural work; copying keys and removing covered entries remain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7800023" cy="457200"/>
          </a:xfrm>
          <a:prstGeom prst="rect">
            <a:avLst/>
          </a:prstGeom>
          <a:noFill/>
        </p:spPr>
        <p:txBody>
          <a:bodyPr wrap="square" lIns="0" rIns="0" tIns="0" bIns="0" anchor="t">
            <a:spAutoFit/>
          </a:bodyPr>
          <a:lstStyle/>
          <a:p>
            <a:r>
              <a:rPr sz="2000" b="1" i="0">
                <a:solidFill>
                  <a:srgbClr val="3C4450"/>
                </a:solidFill>
                <a:latin typeface="Calibri"/>
              </a:rPr>
              <a:t>7 Reclaiming history under a budget</a:t>
            </a:r>
          </a:p>
        </p:txBody>
      </p:sp>
      <p:sp>
        <p:nvSpPr>
          <p:cNvPr id="3" name="TextBox 2"/>
          <p:cNvSpPr txBox="1"/>
          <p:nvPr/>
        </p:nvSpPr>
        <p:spPr>
          <a:xfrm>
            <a:off x="8394383" y="429768"/>
            <a:ext cx="822960" cy="365760"/>
          </a:xfrm>
          <a:prstGeom prst="rect">
            <a:avLst/>
          </a:prstGeom>
          <a:noFill/>
        </p:spPr>
        <p:txBody>
          <a:bodyPr wrap="square" lIns="0" rIns="0" tIns="0" bIns="0" anchor="t">
            <a:spAutoFit/>
          </a:bodyPr>
          <a:lstStyle/>
          <a:p>
            <a:pPr algn="r"/>
            <a:r>
              <a:rPr sz="1200" b="0" i="0">
                <a:solidFill>
                  <a:srgbClr val="666E7A"/>
                </a:solidFill>
                <a:latin typeface="Calibri"/>
              </a:rPr>
              <a:t>8/9</a:t>
            </a:r>
          </a:p>
        </p:txBody>
      </p:sp>
      <p:sp>
        <p:nvSpPr>
          <p:cNvPr id="4" name="TextBox 3"/>
          <p:cNvSpPr txBox="1"/>
          <p:nvPr/>
        </p:nvSpPr>
        <p:spPr>
          <a:xfrm>
            <a:off x="502920" y="868680"/>
            <a:ext cx="8714423" cy="1463040"/>
          </a:xfrm>
          <a:prstGeom prst="rect">
            <a:avLst/>
          </a:prstGeom>
          <a:noFill/>
        </p:spPr>
        <p:txBody>
          <a:bodyPr wrap="square" lIns="0" rIns="0" tIns="0" bIns="0" anchor="t">
            <a:spAutoFit/>
          </a:bodyPr>
          <a:lstStyle/>
          <a:p>
            <a:pPr>
              <a:spcAft>
                <a:spcPts val="500"/>
              </a:spcAft>
            </a:pPr>
            <a:r>
              <a:rPr sz="1400" b="0" i="0">
                <a:solidFill>
                  <a:srgbClr val="3C4450"/>
                </a:solidFill>
                <a:latin typeface="Calibri"/>
              </a:rPr>
              <a:t>When the pool runs out, reclamation compares the oldest key block with the oldest node, releases whichever is older and advances the cutoff reclaimCV; reads below it are rejected as too old, exactly as FoundationDB rejects reads older than its window. Releasing a block does not clean every reference to it, so each reference carries the generation of the block it names.</a:t>
            </a:r>
          </a:p>
        </p:txBody>
      </p:sp>
      <p:pic>
        <p:nvPicPr>
          <p:cNvPr id="5" name="Picture 4" descr="c-generation.png"/>
          <p:cNvPicPr>
            <a:picLocks noChangeAspect="1"/>
          </p:cNvPicPr>
          <p:nvPr/>
        </p:nvPicPr>
        <p:blipFill>
          <a:blip r:embed="rId2"/>
          <a:stretch>
            <a:fillRect/>
          </a:stretch>
        </p:blipFill>
        <p:spPr>
          <a:xfrm>
            <a:off x="502920" y="2286000"/>
            <a:ext cx="8714423" cy="2433992"/>
          </a:xfrm>
          <a:prstGeom prst="rect">
            <a:avLst/>
          </a:prstGeom>
        </p:spPr>
      </p:pic>
      <p:sp>
        <p:nvSpPr>
          <p:cNvPr id="6" name="TextBox 5"/>
          <p:cNvSpPr txBox="1"/>
          <p:nvPr/>
        </p:nvSpPr>
        <p:spPr>
          <a:xfrm>
            <a:off x="502920" y="4994312"/>
            <a:ext cx="8714423" cy="6790653"/>
          </a:xfrm>
          <a:prstGeom prst="rect">
            <a:avLst/>
          </a:prstGeom>
          <a:noFill/>
        </p:spPr>
        <p:txBody>
          <a:bodyPr wrap="square" lIns="0" rIns="0" tIns="0" bIns="0" anchor="t">
            <a:spAutoFit/>
          </a:bodyPr>
          <a:lstStyle/>
          <a:p>
            <a:pPr>
              <a:spcBef>
                <a:spcPts val="800"/>
              </a:spcBef>
            </a:pPr>
            <a:r>
              <a:rPr sz="1500" b="1" i="0">
                <a:solidFill>
                  <a:srgbClr val="E07A2E"/>
                </a:solidFill>
                <a:latin typeface="Consolas"/>
              </a:rPr>
              <a:t>1 </a:t>
            </a:r>
            <a:r>
              <a:rPr sz="1500" b="1" i="0">
                <a:solidFill>
                  <a:srgbClr val="3C4450"/>
                </a:solidFill>
                <a:latin typeface="Consolas"/>
              </a:rPr>
              <a:t>key blocks are released in allocation order</a:t>
            </a:r>
          </a:p>
          <a:p>
            <a:r>
              <a:rPr sz="1250" b="0" i="0">
                <a:solidFill>
                  <a:srgbClr val="666E7A"/>
                </a:solidFill>
                <a:latin typeface="Calibri"/>
              </a:rPr>
              <a:t>     one counter, lastReclaimedKeyGeneration, bounds every released block</a:t>
            </a:r>
          </a:p>
          <a:p>
            <a:pPr>
              <a:spcBef>
                <a:spcPts val="800"/>
              </a:spcBef>
            </a:pPr>
            <a:r>
              <a:rPr sz="1500" b="1" i="0">
                <a:solidFill>
                  <a:srgbClr val="E07A2E"/>
                </a:solidFill>
                <a:latin typeface="Consolas"/>
              </a:rPr>
              <a:t>2 </a:t>
            </a:r>
            <a:r>
              <a:rPr sz="1500" b="1" i="0">
                <a:solidFill>
                  <a:srgbClr val="3C4450"/>
                </a:solidFill>
                <a:latin typeface="Consolas"/>
              </a:rPr>
              <a:t>valid  ⟺  generation &gt; lastReclaimedKeyGeneration</a:t>
            </a:r>
          </a:p>
          <a:p>
            <a:r>
              <a:rPr sz="1250" b="0" i="0">
                <a:solidFill>
                  <a:srgbClr val="666E7A"/>
                </a:solidFill>
                <a:latin typeface="Calibri"/>
              </a:rPr>
              <a:t>     one integer compare; the block is never read, even when its pool block was reused</a:t>
            </a:r>
          </a:p>
          <a:p>
            <a:pPr>
              <a:spcBef>
                <a:spcPts val="800"/>
              </a:spcBef>
            </a:pPr>
            <a:r>
              <a:rPr sz="1500" b="1" i="0">
                <a:solidFill>
                  <a:srgbClr val="E07A2E"/>
                </a:solidFill>
                <a:latin typeface="Consolas"/>
              </a:rPr>
              <a:t>3 </a:t>
            </a:r>
            <a:r>
              <a:rPr sz="1500" b="1" i="0">
                <a:solidFill>
                  <a:srgbClr val="3C4450"/>
                </a:solidFill>
                <a:latin typeface="Consolas"/>
              </a:rPr>
              <a:t>stale entries are cleaned when a search meets them</a:t>
            </a:r>
          </a:p>
          <a:p>
            <a:r>
              <a:rPr sz="1250" b="0" i="0">
                <a:solidFill>
                  <a:srgbClr val="666E7A"/>
                </a:solidFill>
                <a:latin typeface="Calibri"/>
              </a:rPr>
              <a:t>     expired separators are refreshed from their child; empty subtrees are detached as a unit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7800023" cy="457200"/>
          </a:xfrm>
          <a:prstGeom prst="rect">
            <a:avLst/>
          </a:prstGeom>
          <a:noFill/>
        </p:spPr>
        <p:txBody>
          <a:bodyPr wrap="square" lIns="0" rIns="0" tIns="0" bIns="0" anchor="t">
            <a:spAutoFit/>
          </a:bodyPr>
          <a:lstStyle/>
          <a:p>
            <a:r>
              <a:rPr sz="2000" b="1" i="0">
                <a:solidFill>
                  <a:srgbClr val="3C4450"/>
                </a:solidFill>
                <a:latin typeface="Calibri"/>
              </a:rPr>
              <a:t>What comes next</a:t>
            </a:r>
          </a:p>
        </p:txBody>
      </p:sp>
      <p:sp>
        <p:nvSpPr>
          <p:cNvPr id="3" name="TextBox 2"/>
          <p:cNvSpPr txBox="1"/>
          <p:nvPr/>
        </p:nvSpPr>
        <p:spPr>
          <a:xfrm>
            <a:off x="8394383" y="429768"/>
            <a:ext cx="822960" cy="365760"/>
          </a:xfrm>
          <a:prstGeom prst="rect">
            <a:avLst/>
          </a:prstGeom>
          <a:noFill/>
        </p:spPr>
        <p:txBody>
          <a:bodyPr wrap="square" lIns="0" rIns="0" tIns="0" bIns="0" anchor="t">
            <a:spAutoFit/>
          </a:bodyPr>
          <a:lstStyle/>
          <a:p>
            <a:pPr algn="r"/>
            <a:r>
              <a:rPr sz="1200" b="0" i="0">
                <a:solidFill>
                  <a:srgbClr val="666E7A"/>
                </a:solidFill>
                <a:latin typeface="Calibri"/>
              </a:rPr>
              <a:t>9/9</a:t>
            </a:r>
          </a:p>
        </p:txBody>
      </p:sp>
      <p:sp>
        <p:nvSpPr>
          <p:cNvPr id="4" name="TextBox 3"/>
          <p:cNvSpPr txBox="1"/>
          <p:nvPr/>
        </p:nvSpPr>
        <p:spPr>
          <a:xfrm>
            <a:off x="502920" y="868680"/>
            <a:ext cx="8714423" cy="2377440"/>
          </a:xfrm>
          <a:prstGeom prst="rect">
            <a:avLst/>
          </a:prstGeom>
          <a:noFill/>
        </p:spPr>
        <p:txBody>
          <a:bodyPr wrap="square" lIns="0" rIns="0" tIns="0" bIns="0" anchor="t">
            <a:spAutoFit/>
          </a:bodyPr>
          <a:lstStyle/>
          <a:p>
            <a:pPr>
              <a:spcAft>
                <a:spcPts val="800"/>
              </a:spcAft>
            </a:pPr>
            <a:r>
              <a:rPr sz="1450" b="0" i="0">
                <a:solidFill>
                  <a:srgbClr val="3C4450"/>
                </a:solidFill>
                <a:latin typeface="Calibri"/>
              </a:rPr>
              <a:t>The read path is where the gap is. The next milestone groups the read checks of a batch, keeps several descents in flight and prefetches the key bytes each one will compare, so that the latency of one external access overlaps useful work on others.</a:t>
            </a:r>
          </a:p>
          <a:p>
            <a:pPr>
              <a:spcAft>
                <a:spcPts val="800"/>
              </a:spcAft>
            </a:pPr>
            <a:r>
              <a:rPr sz="1450" b="0" i="0">
                <a:solidFill>
                  <a:srgbClr val="3C4450"/>
                </a:solidFill>
                <a:latin typeface="Calibri"/>
              </a:rPr>
              <a:t>After the resolver, the series moves to the storage server, which must keep the data versions that a longer-lived transaction reads, and then to the protocol that coordinates both with the transaction's read version.</a:t>
            </a:r>
          </a:p>
        </p:txBody>
      </p:sp>
      <p:sp>
        <p:nvSpPr>
          <p:cNvPr id="5" name="TextBox 4"/>
          <p:cNvSpPr txBox="1"/>
          <p:nvPr/>
        </p:nvSpPr>
        <p:spPr>
          <a:xfrm>
            <a:off x="502920" y="4206240"/>
            <a:ext cx="8714423" cy="5029200"/>
          </a:xfrm>
          <a:prstGeom prst="rect">
            <a:avLst/>
          </a:prstGeom>
          <a:noFill/>
        </p:spPr>
        <p:txBody>
          <a:bodyPr wrap="square" lIns="0" rIns="0" tIns="0" bIns="0" anchor="t">
            <a:spAutoFit/>
          </a:bodyPr>
          <a:lstStyle/>
          <a:p>
            <a:pPr algn="ctr"/>
            <a:r>
              <a:rPr sz="2000" b="0" i="0">
                <a:solidFill>
                  <a:srgbClr val="3C4450"/>
                </a:solidFill>
                <a:latin typeface="Calibri"/>
              </a:rPr>
              <a:t>Which of these mechanisms would you have designed differently?</a:t>
            </a:r>
          </a:p>
          <a:p>
            <a:pPr algn="ctr">
              <a:spcBef>
                <a:spcPts val="2200"/>
              </a:spcBef>
            </a:pPr>
            <a:r>
              <a:rPr sz="1500" b="0" i="0">
                <a:solidFill>
                  <a:srgbClr val="666E7A"/>
                </a:solidFill>
                <a:latin typeface="Calibri"/>
              </a:rPr>
              <a:t>The article, with the complete figures</a:t>
            </a:r>
          </a:p>
          <a:p>
            <a:pPr algn="ctr"/>
            <a:r>
              <a:rPr sz="1700" b="1" i="0">
                <a:solidFill>
                  <a:srgbClr val="002060"/>
                </a:solidFill>
                <a:latin typeface="Calibri"/>
                <a:hlinkClick r:id="rId2"/>
              </a:rPr>
              <a:t>ricardojimenezperis.com/systems/fdb-resolver-v1</a:t>
            </a:r>
          </a:p>
          <a:p>
            <a:pPr algn="ctr">
              <a:spcBef>
                <a:spcPts val="2200"/>
              </a:spcBef>
            </a:pPr>
            <a:r>
              <a:rPr sz="1500" b="0" i="0">
                <a:solidFill>
                  <a:srgbClr val="666E7A"/>
                </a:solidFill>
                <a:latin typeface="Calibri"/>
              </a:rPr>
              <a:t>Design as implemented, decision record, journal, evaluation, evidence</a:t>
            </a:r>
          </a:p>
          <a:p>
            <a:pPr algn="ctr"/>
            <a:r>
              <a:rPr sz="1700" b="1" i="0">
                <a:solidFill>
                  <a:srgbClr val="002060"/>
                </a:solidFill>
                <a:latin typeface="Calibri"/>
                <a:hlinkClick r:id="rId3"/>
              </a:rPr>
              <a:t>github.com/ricardojimenezperis/fdb-beyond-5s</a:t>
            </a:r>
          </a:p>
          <a:p>
            <a:pPr algn="ctr">
              <a:spcBef>
                <a:spcPts val="2200"/>
              </a:spcBef>
            </a:pPr>
            <a:r>
              <a:rPr sz="1500" b="0" i="0">
                <a:solidFill>
                  <a:srgbClr val="666E7A"/>
                </a:solidFill>
                <a:latin typeface="Calibri"/>
              </a:rPr>
              <a:t>Code, tests and harness: FoundationDB fork, tag resolver-v1</a:t>
            </a:r>
          </a:p>
          <a:p>
            <a:pPr algn="ctr"/>
            <a:r>
              <a:rPr sz="1700" b="1" i="0">
                <a:solidFill>
                  <a:srgbClr val="002060"/>
                </a:solidFill>
                <a:latin typeface="Calibri"/>
                <a:hlinkClick r:id="rId4"/>
              </a:rPr>
              <a:t>github.com/ricardojimenezperis/foundationdb</a:t>
            </a:r>
          </a:p>
          <a:p>
            <a:pPr algn="ctr">
              <a:spcBef>
                <a:spcPts val="3000"/>
              </a:spcBef>
            </a:pPr>
            <a:r>
              <a:rPr sz="1400" b="0" i="0">
                <a:solidFill>
                  <a:srgbClr val="666E7A"/>
                </a:solidFill>
                <a:latin typeface="Calibri"/>
              </a:rPr>
              <a:t>Links also in the first comment</a:t>
            </a:r>
          </a:p>
          <a:p>
            <a:pPr algn="ctr">
              <a:spcBef>
                <a:spcPts val="3600"/>
              </a:spcBef>
            </a:pPr>
            <a:r>
              <a:rPr sz="1800" b="1" i="0">
                <a:solidFill>
                  <a:srgbClr val="002060"/>
                </a:solidFill>
                <a:latin typeface="Calibri"/>
                <a:hlinkClick r:id="rId5"/>
              </a:rPr>
              <a:t>Inside DBs · Ricardo Jimenez-Peris</a:t>
            </a:r>
          </a:p>
          <a:p>
            <a:pPr algn="ctr"/>
            <a:r>
              <a:rPr sz="1200" b="0" i="1">
                <a:solidFill>
                  <a:srgbClr val="666E7A"/>
                </a:solidFill>
                <a:latin typeface="Calibri"/>
              </a:rPr>
              <a:t>Notes on how databases actually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